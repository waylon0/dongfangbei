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65" r:id="rId2"/>
    <p:sldId id="366" r:id="rId3"/>
    <p:sldId id="456" r:id="rId4"/>
    <p:sldId id="472" r:id="rId5"/>
    <p:sldId id="473" r:id="rId6"/>
    <p:sldId id="461" r:id="rId7"/>
    <p:sldId id="465" r:id="rId8"/>
    <p:sldId id="467" r:id="rId9"/>
    <p:sldId id="469" r:id="rId10"/>
    <p:sldId id="4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1" userDrawn="1">
          <p15:clr>
            <a:srgbClr val="A4A3A4"/>
          </p15:clr>
        </p15:guide>
        <p15:guide id="2" pos="7314" userDrawn="1">
          <p15:clr>
            <a:srgbClr val="A4A3A4"/>
          </p15:clr>
        </p15:guide>
        <p15:guide id="3" pos="396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uangzhi" initials="h" lastIdx="1" clrIdx="0"/>
  <p:cmAuthor id="107" name="38006" initials="3" lastIdx="2" clrIdx="106"/>
  <p:cmAuthor id="1" name="p520" initials="p" lastIdx="3" clrIdx="0"/>
  <p:cmAuthor id="108" name="吕晓冬" initials="吕" lastIdx="1" clrIdx="108"/>
  <p:cmAuthor id="2" name="赵 亮" initials="赵" lastIdx="2" clrIdx="37"/>
  <p:cmAuthor id="109" name="安卿/行政管理部/COSL" initials="安" lastIdx="2" clrIdx="0"/>
  <p:cmAuthor id="3" name="杨洪志" initials="杨" lastIdx="0" clrIdx="1"/>
  <p:cmAuthor id="110" name="原建伟" initials="原" lastIdx="1" clrIdx="109"/>
  <p:cmAuthor id="4" name="张馨" initials="张" lastIdx="1" clrIdx="1"/>
  <p:cmAuthor id="111" name="yy" initials="y" lastIdx="2" clrIdx="0"/>
  <p:cmAuthor id="5" name="王颂夏" initials="王" lastIdx="2" clrIdx="2"/>
  <p:cmAuthor id="112" name="Think pad" initials="T" lastIdx="1" clrIdx="0"/>
  <p:cmAuthor id="6" name="英东项目部" initials="英" lastIdx="1" clrIdx="0"/>
  <p:cmAuthor id="113" name="AndyJ" initials="A" lastIdx="1" clrIdx="0"/>
  <p:cmAuthor id="7" name="admin" initials="a" lastIdx="1" clrIdx="4"/>
  <p:cmAuthor id="114" name="wangwei223" initials="w" lastIdx="3" clrIdx="113"/>
  <p:cmAuthor id="8" name="liuxiaobo" initials="l" lastIdx="1" clrIdx="5"/>
  <p:cmAuthor id="115" name="guoli4" initials="g" lastIdx="1" clrIdx="114"/>
  <p:cmAuthor id="9" name="作者" initials="A" lastIdx="0" clrIdx="6"/>
  <p:cmAuthor id="116" name="liuxy12" initials="l" lastIdx="1" clrIdx="115"/>
  <p:cmAuthor id="10" name="Rzs0830" initials="R" lastIdx="2" clrIdx="4"/>
  <p:cmAuthor id="117" name="易震" initials="易" lastIdx="1" clrIdx="116"/>
  <p:cmAuthor id="11" name="CNPC" initials="C" lastIdx="2" clrIdx="0"/>
  <p:cmAuthor id="118" name="番茄花园" initials="番" lastIdx="4" clrIdx="0"/>
  <p:cmAuthor id="210492765" name="施普希（菜菜）" initials="施" lastIdx="0" clrIdx="0"/>
  <p:cmAuthor id="12" name="K" initials="K" lastIdx="1" clrIdx="11"/>
  <p:cmAuthor id="119" name="zq" initials="z" lastIdx="1" clrIdx="0"/>
  <p:cmAuthor id="417904455" name="山兔协会会长" initials="山" lastIdx="1" clrIdx="76"/>
  <p:cmAuthor id="210492766" name="AGK" initials="AGK" lastIdx="4" clrIdx="7"/>
  <p:cmAuthor id="13" name="Wu Kunyu" initials="WK" lastIdx="1" clrIdx="12"/>
  <p:cmAuthor id="120" name="吕永朋" initials="吕" lastIdx="1" clrIdx="0"/>
  <p:cmAuthor id="14" name="dwzx" initials="d" lastIdx="1" clrIdx="13"/>
  <p:cmAuthor id="210492768" name="zhang" initials="z" lastIdx="2" clrIdx="35"/>
  <p:cmAuthor id="15" name="dht" initials="d" lastIdx="1" clrIdx="0"/>
  <p:cmAuthor id="210492769" name="亚东 张" initials="亚张" lastIdx="1" clrIdx="93"/>
  <p:cmAuthor id="16" name="陈 朔" initials="陈" lastIdx="3" clrIdx="0"/>
  <p:cmAuthor id="210492770" name="cp" initials="c" lastIdx="1" clrIdx="58"/>
  <p:cmAuthor id="17" name="何炳彦" initials="何" lastIdx="1" clrIdx="0"/>
  <p:cmAuthor id="18" name="FFS" initials="F" lastIdx="1" clrIdx="2"/>
  <p:cmAuthor id="19" name="HP" initials="H" lastIdx="1" clrIdx="17"/>
  <p:cmAuthor id="20" name="Lai chun" initials="L" lastIdx="1" clrIdx="0"/>
  <p:cmAuthor id="21" name="len" initials="l" lastIdx="1" clrIdx="0"/>
  <p:cmAuthor id="22" name="邵克拉" initials="邵" lastIdx="1" clrIdx="0"/>
  <p:cmAuthor id="23" name="xb21cn" initials="x" lastIdx="0" clrIdx="0"/>
  <p:cmAuthor id="24" name="严兰兰" initials="严" lastIdx="1" clrIdx="0"/>
  <p:cmAuthor id="25" name="Administrator" initials="A" lastIdx="1" clrIdx="1"/>
  <p:cmAuthor id="26" name="LCLCOM" initials="L" lastIdx="1" clrIdx="25"/>
  <p:cmAuthor id="27" name="钟 连彬" initials="钟" lastIdx="2" clrIdx="14"/>
  <p:cmAuthor id="28" name="未知用户4" initials="未" lastIdx="1" clrIdx="0"/>
  <p:cmAuthor id="29" name="zj" initials="z" lastIdx="5" clrIdx="0"/>
  <p:cmAuthor id="30" name="未知用户2" initials="未" lastIdx="6" clrIdx="1"/>
  <p:cmAuthor id="31" name="未知用户5" initials="未" lastIdx="0" clrIdx="1"/>
  <p:cmAuthor id="32" name="Tiger" initials="T" lastIdx="1" clrIdx="35"/>
  <p:cmAuthor id="33" name="张福宏" initials="张" lastIdx="1" clrIdx="32"/>
  <p:cmAuthor id="34" name="lipm0306" initials="l" lastIdx="1" clrIdx="33"/>
  <p:cmAuthor id="35" name="掮客" initials="掮" lastIdx="23" clrIdx="0"/>
  <p:cmAuthor id="36" name="SYB" initials="S" lastIdx="1" clrIdx="13"/>
  <p:cmAuthor id="37" name="侯甫" initials="侯" lastIdx="1" clrIdx="36"/>
  <p:cmAuthor id="38" name="liangjing" initials="l" lastIdx="1" clrIdx="40"/>
  <p:cmAuthor id="39" name="409922430@qq.com" initials="4" lastIdx="1" clrIdx="0"/>
  <p:cmAuthor id="40" name="Dell" initials="D" lastIdx="27" clrIdx="0"/>
  <p:cmAuthor id="41" name="pc" initials="p" lastIdx="1" clrIdx="40"/>
  <p:cmAuthor id="42" name="Longinus 9999" initials="L" lastIdx="1" clrIdx="10"/>
  <p:cmAuthor id="43" name="YHL" initials="Y" lastIdx="2" clrIdx="42"/>
  <p:cmAuthor id="44" name="yangle" initials="y" lastIdx="1" clrIdx="43"/>
  <p:cmAuthor id="45" name="zhang cc" initials="z" lastIdx="1" clrIdx="0"/>
  <p:cmAuthor id="46" name="庹海忠" initials="庹" lastIdx="0" clrIdx="0"/>
  <p:cmAuthor id="47" name="ktspd" initials="k" lastIdx="11" clrIdx="5"/>
  <p:cmAuthor id="48" name="p410" initials="p" lastIdx="1" clrIdx="47"/>
  <p:cmAuthor id="49" name="PC" initials="P" lastIdx="1" clrIdx="48"/>
  <p:cmAuthor id="50" name="欢" initials="欢" lastIdx="1" clrIdx="36"/>
  <p:cmAuthor id="51" name="Windows User" initials="" lastIdx="1" clrIdx="10"/>
  <p:cmAuthor id="52" name="方陈宏" initials="方" lastIdx="1" clrIdx="30"/>
  <p:cmAuthor id="53" name="user" initials="u" lastIdx="1" clrIdx="0"/>
  <p:cmAuthor id="54" name="灏 杨" initials="" lastIdx="1" clrIdx="1"/>
  <p:cmAuthor id="55" name="Chen Jarvis" initials="C" lastIdx="1" clrIdx="10"/>
  <p:cmAuthor id="56" name="shijianqiang" initials="s" lastIdx="1" clrIdx="15"/>
  <p:cmAuthor id="57" name="发电车间党支部" initials="发" lastIdx="2" clrIdx="56"/>
  <p:cmAuthor id="58" name="renxr" initials="r" lastIdx="1" clrIdx="57"/>
  <p:cmAuthor id="59" name="王泓" initials="王" lastIdx="1" clrIdx="0"/>
  <p:cmAuthor id="60" name="spring_ren" initials="s" lastIdx="2" clrIdx="1"/>
  <p:cmAuthor id="61" name="Helen Keyworth (HI)" initials="H" lastIdx="77" clrIdx="8"/>
  <p:cmAuthor id="62" name="QHYT-admin" initials="Q" lastIdx="1" clrIdx="61"/>
  <p:cmAuthor id="63" name="localadmin" initials="l" lastIdx="0" clrIdx="0"/>
  <p:cmAuthor id="64" name="Picc" initials="P" lastIdx="1" clrIdx="0"/>
  <p:cmAuthor id="65" name="owner" initials="o" lastIdx="1" clrIdx="64"/>
  <p:cmAuthor id="66" name="常睿" initials="常" lastIdx="1" clrIdx="49"/>
  <p:cmAuthor id="67" name="LYL" initials="" lastIdx="3" clrIdx="25"/>
  <p:cmAuthor id="68" name="Micorosoft" initials="" lastIdx="2" clrIdx="27"/>
  <p:cmAuthor id="69" name="chuzixing@outlook.com" initials="" lastIdx="1" clrIdx="23"/>
  <p:cmAuthor id="1411827" name="黄晓平" initials="黄" lastIdx="0" clrIdx="0"/>
  <p:cmAuthor id="70" name="Billgates" initials="" lastIdx="1" clrIdx="27"/>
  <p:cmAuthor id="71" name="win" initials="" lastIdx="1" clrIdx="28"/>
  <p:cmAuthor id="72" name="liubo" initials="" lastIdx="2" clrIdx="26"/>
  <p:cmAuthor id="73" name="许洋" initials="" lastIdx="1" clrIdx="27"/>
  <p:cmAuthor id="2000" name="刘熹_E7Jj2QVv" initials="authorId_428306194" lastIdx="0" clrIdx="0"/>
  <p:cmAuthor id="74" name="田聪" initials="田" lastIdx="1" clrIdx="26"/>
  <p:cmAuthor id="2001" name="36094" initials="3" lastIdx="1" clrIdx="5"/>
  <p:cmAuthor id="287643681" name="殷格非" initials="殷" lastIdx="2" clrIdx="0"/>
  <p:cmAuthor id="76" name="NTKO" initials="u" lastIdx="0" clrIdx="25"/>
  <p:cmAuthor id="287643682" name="z r" initials="zr" lastIdx="5" clrIdx="12"/>
  <p:cmAuthor id="2002" name="maoshan" initials="m" lastIdx="1" clrIdx="30"/>
  <p:cmAuthor id="77" name="石油勘探" initials="石油勘探" lastIdx="1" clrIdx="26"/>
  <p:cmAuthor id="2003" name="123" initials="1" lastIdx="1" clrIdx="36"/>
  <p:cmAuthor id="78" name="BYD" initials="" lastIdx="0" clrIdx="29"/>
  <p:cmAuthor id="2004" name="Liang YiWei" initials="LY" lastIdx="1" clrIdx="20"/>
  <p:cmAuthor id="79" name="刘俊丰" initials="刘" lastIdx="1" clrIdx="28"/>
  <p:cmAuthor id="2005" name="陈 平" initials="陈" lastIdx="1" clrIdx="44"/>
  <p:cmAuthor id="2006" name="Admin" initials="A" lastIdx="1" clrIdx="49"/>
  <p:cmAuthor id="80" name="yikun wang" initials="" lastIdx="0" clrIdx="53"/>
  <p:cmAuthor id="2007" name="Hou Zhonghao" initials="Hou Zh" lastIdx="1" clrIdx="50"/>
  <p:cmAuthor id="81" name="wangtx" initials="w" lastIdx="2" clrIdx="69"/>
  <p:cmAuthor id="2008" name="贾浪波" initials="贾浪波" lastIdx="1" clrIdx="51"/>
  <p:cmAuthor id="82" name="何 文军" initials="何" lastIdx="1" clrIdx="5"/>
  <p:cmAuthor id="83" name="尚燕" initials="尚" lastIdx="1" clrIdx="49"/>
  <p:cmAuthor id="2009" name="dxf69" initials="d" lastIdx="1" clrIdx="88"/>
  <p:cmAuthor id="84" name="李明" initials="李" lastIdx="2" clrIdx="3"/>
  <p:cmAuthor id="85" name="磊 江" initials="磊" lastIdx="1" clrIdx="13"/>
  <p:cmAuthor id="86" name="dqgz3" initials="d" lastIdx="3" clrIdx="0"/>
  <p:cmAuthor id="87" name="76322" initials="7" lastIdx="2" clrIdx="25"/>
  <p:cmAuthor id="88" name="杜现飞" initials="杜" lastIdx="1" clrIdx="87"/>
  <p:cmAuthor id="89" name="boce zhang" initials="b" lastIdx="1" clrIdx="63"/>
  <p:cmAuthor id="90" name="李向平" initials="李" lastIdx="1" clrIdx="93"/>
  <p:cmAuthor id="91" name="杨姗" initials="杨" lastIdx="3" clrIdx="1"/>
  <p:cmAuthor id="92" name="lzw3_cq" initials="l" lastIdx="1" clrIdx="91"/>
  <p:cmAuthor id="93" name="Yao" initials="Y" lastIdx="1" clrIdx="92"/>
  <p:cmAuthor id="95" name="李璐---寿险总公司营销管理部" initials="李" lastIdx="0" clrIdx="0"/>
  <p:cmAuthor id="96" name="xuqing" initials="x" lastIdx="4" clrIdx="0"/>
  <p:cmAuthor id="97" name="会议室" initials="会" lastIdx="1" clrIdx="96"/>
  <p:cmAuthor id="8535702" name="曾蓓/贝贝" initials="曾" lastIdx="0" clrIdx="0"/>
  <p:cmAuthor id="98" name="乔" initials="qbh" lastIdx="1" clrIdx="97"/>
  <p:cmAuthor id="99" name="jxgy15" initials="j" lastIdx="0" clrIdx="0"/>
  <p:cmAuthor id="100" name="柴文文" initials="柴" lastIdx="1" clrIdx="99"/>
  <p:cmAuthor id="101" name="徐 宁" initials="徐" lastIdx="1" clrIdx="0"/>
  <p:cmAuthor id="102" name="xueyw" initials="x" lastIdx="2" clrIdx="94"/>
  <p:cmAuthor id="103" name="张 振华" initials="张" lastIdx="1" clrIdx="95"/>
  <p:cmAuthor id="104" name="wanglb3" initials="w" lastIdx="1" clrIdx="103"/>
  <p:cmAuthor id="105" name="IBM" initials="I" lastIdx="1" clrIdx="104"/>
  <p:cmAuthor id="106" name="miaoff" initials="m" lastIdx="1" clrIdx="1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FC7"/>
    <a:srgbClr val="036EFF"/>
    <a:srgbClr val="4091FF"/>
    <a:srgbClr val="FFFFFF"/>
    <a:srgbClr val="49ABEA"/>
    <a:srgbClr val="9FDCFF"/>
    <a:srgbClr val="87C6F8"/>
    <a:srgbClr val="7EB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2" autoAdjust="0"/>
    <p:restoredTop sz="86483" autoAdjust="0"/>
  </p:normalViewPr>
  <p:slideViewPr>
    <p:cSldViewPr snapToGrid="0" showGuides="1">
      <p:cViewPr varScale="1">
        <p:scale>
          <a:sx n="113" d="100"/>
          <a:sy n="113" d="100"/>
        </p:scale>
        <p:origin x="174" y="462"/>
      </p:cViewPr>
      <p:guideLst>
        <p:guide pos="3831"/>
        <p:guide pos="7314"/>
        <p:guide pos="396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BB037C-34EB-5C4C-99C8-E917F6FF0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latin typeface="SabonLTStd-Bold"/>
                <a:ea typeface="SabonLTStd-Bold"/>
                <a:sym typeface="+mn-ea"/>
              </a:rPr>
              <a:t>Review Paper: Methods of measurement for 4D seismic post-stack time shifts</a:t>
            </a:r>
            <a:endParaRPr lang="en-US" altLang="zh-CN" b="1">
              <a:solidFill>
                <a:srgbClr val="000000"/>
              </a:solidFill>
              <a:latin typeface="SabonLTStd-Bold"/>
              <a:ea typeface="SabonLTStd-Bold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10492740" y="856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灯片编号占位符 2"/>
          <p:cNvSpPr txBox="1"/>
          <p:nvPr userDrawn="1"/>
        </p:nvSpPr>
        <p:spPr>
          <a:xfrm>
            <a:off x="8271051" y="6404687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BB1146-E542-4D4E-B8E9-6919A11DDD48}" type="slidenum">
              <a:rPr kumimoji="1" lang="en-US" sz="1200" b="1" i="0" u="none" strike="noStrike" kern="1200" cap="none" spc="0" normalizeH="0" baseline="0" smtClean="0">
                <a:ln>
                  <a:noFill/>
                </a:ln>
                <a:solidFill>
                  <a:srgbClr val="0A61E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1" lang="en-US" sz="1200" b="1" i="0" u="none" strike="noStrike" kern="1200" cap="none" spc="0" normalizeH="0" baseline="0" dirty="0">
              <a:ln>
                <a:noFill/>
              </a:ln>
              <a:solidFill>
                <a:srgbClr val="0A61E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>
            <a:spLocks noGrp="1"/>
          </p:cNvSpPr>
          <p:nvPr userDrawn="1"/>
        </p:nvSpPr>
        <p:spPr>
          <a:xfrm>
            <a:off x="11475720" y="6451600"/>
            <a:ext cx="575945" cy="327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10D71F5F-8384-4BF3-9E98-67C980827A23}" type="slidenum">
              <a:rPr lang="en-US" altLang="zh-CN" sz="1335">
                <a:solidFill>
                  <a:srgbClr val="6DA1ED"/>
                </a:solidFill>
              </a:rPr>
              <a:t>‹#›</a:t>
            </a:fld>
            <a:endParaRPr lang="en-US" altLang="zh-CN" sz="1335">
              <a:solidFill>
                <a:srgbClr val="6DA1ED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0" y="6301358"/>
            <a:ext cx="12193589" cy="555054"/>
            <a:chOff x="0" y="6301358"/>
            <a:chExt cx="12193589" cy="555054"/>
          </a:xfrm>
        </p:grpSpPr>
        <p:sp>
          <p:nvSpPr>
            <p:cNvPr id="18" name="矩形 17"/>
            <p:cNvSpPr/>
            <p:nvPr userDrawn="1"/>
          </p:nvSpPr>
          <p:spPr>
            <a:xfrm>
              <a:off x="1589" y="6301358"/>
              <a:ext cx="12192000" cy="5550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0" y="6301358"/>
              <a:ext cx="153989" cy="555053"/>
            </a:xfrm>
            <a:prstGeom prst="rect">
              <a:avLst/>
            </a:prstGeom>
            <a:solidFill>
              <a:srgbClr val="C61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5416" y="6358508"/>
              <a:ext cx="1193320" cy="492570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1497"/>
            <a:ext cx="2613891" cy="11599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体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/>
          <p:cNvPicPr>
            <a:picLocks noChangeAspect="1"/>
          </p:cNvPicPr>
          <p:nvPr userDrawn="1"/>
        </p:nvPicPr>
        <p:blipFill>
          <a:blip r:embed="rId2" cstate="print"/>
          <a:srcRect b="23643"/>
          <a:stretch>
            <a:fillRect/>
          </a:stretch>
        </p:blipFill>
        <p:spPr bwMode="auto">
          <a:xfrm>
            <a:off x="23150" y="81020"/>
            <a:ext cx="85725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连接符 3"/>
          <p:cNvCxnSpPr/>
          <p:nvPr userDrawn="1"/>
        </p:nvCxnSpPr>
        <p:spPr>
          <a:xfrm>
            <a:off x="762044" y="859895"/>
            <a:ext cx="11334749" cy="21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 userDrawn="1"/>
        </p:nvSpPr>
        <p:spPr bwMode="auto">
          <a:xfrm>
            <a:off x="0" y="6424613"/>
            <a:ext cx="1773238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121793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62138B-BBFA-4EDD-8271-9406461023CB}" type="slidenum"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Arial Unicode MS" pitchFamily="34" charset="-122"/>
                <a:cs typeface="Arial Unicode MS" pitchFamily="34" charset="-122"/>
              </a:rPr>
              <a:t>‹#›</a:t>
            </a:fld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001375" y="6443663"/>
            <a:ext cx="1077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564277-A158-47FE-9EF3-8747057A3C95}" type="slidenum"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Straight Connector 9"/>
          <p:cNvCxnSpPr/>
          <p:nvPr userDrawn="1"/>
        </p:nvCxnSpPr>
        <p:spPr>
          <a:xfrm>
            <a:off x="1596390" y="685831"/>
            <a:ext cx="9966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 userDrawn="1"/>
        </p:nvCxnSpPr>
        <p:spPr>
          <a:xfrm>
            <a:off x="324438" y="734946"/>
            <a:ext cx="10671222" cy="0"/>
          </a:xfrm>
          <a:prstGeom prst="line">
            <a:avLst/>
          </a:prstGeom>
          <a:ln w="38100">
            <a:solidFill>
              <a:srgbClr val="0A6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025" y="27305"/>
            <a:ext cx="1038860" cy="9810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34FC7"/>
          </a:solidFill>
          <a:latin typeface="Microsoft YaHei Bold" panose="020B0503020204020204" charset="-122"/>
          <a:ea typeface="Microsoft YaHei Bold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-1" y="0"/>
            <a:ext cx="1219289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16200000">
            <a:off x="2229485" y="-2228850"/>
            <a:ext cx="6858000" cy="11316335"/>
          </a:xfrm>
          <a:prstGeom prst="rect">
            <a:avLst/>
          </a:prstGeom>
          <a:gradFill flip="none" rotWithShape="1">
            <a:gsLst>
              <a:gs pos="22000">
                <a:schemeClr val="bg1">
                  <a:alpha val="0"/>
                </a:schemeClr>
              </a:gs>
              <a:gs pos="100000">
                <a:srgbClr val="0111B4">
                  <a:alpha val="8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39585" y="1251688"/>
            <a:ext cx="9702675" cy="28613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kumimoji="1"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第十二届“东方杯”</a:t>
            </a:r>
            <a:endParaRPr kumimoji="1" lang="en-US" altLang="zh-CN" sz="4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kumimoji="1"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全国大学生勘探地球物理大赛</a:t>
            </a:r>
            <a:br>
              <a:rPr kumimoji="1"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赛题说明</a:t>
            </a:r>
          </a:p>
        </p:txBody>
      </p:sp>
      <p:pic>
        <p:nvPicPr>
          <p:cNvPr id="10" name="图片 9" descr="黑暗中的灯光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 rot="16200000">
            <a:off x="2688267" y="347227"/>
            <a:ext cx="1354954" cy="825925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79285" y="4587875"/>
            <a:ext cx="3128645" cy="60811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</a:t>
            </a:r>
            <a:r>
              <a:rPr lang="en-US" altLang="zh-CN" sz="2400" b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6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lang="en-US" altLang="zh-CN" sz="24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79245" y="5266690"/>
            <a:ext cx="15671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kumimoji="1" lang="zh-CN" alt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大赛组委会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53670"/>
            <a:ext cx="1087755" cy="10979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03935" y="2664460"/>
            <a:ext cx="10242319" cy="1666550"/>
            <a:chOff x="1582" y="4196"/>
            <a:chExt cx="7278" cy="2625"/>
          </a:xfrm>
        </p:grpSpPr>
        <p:cxnSp>
          <p:nvCxnSpPr>
            <p:cNvPr id="127" name="方能演亦6"/>
            <p:cNvCxnSpPr/>
            <p:nvPr/>
          </p:nvCxnSpPr>
          <p:spPr>
            <a:xfrm>
              <a:off x="1582" y="4196"/>
              <a:ext cx="6884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487CE0">
                      <a:alpha val="0"/>
                    </a:srgbClr>
                  </a:gs>
                  <a:gs pos="100000">
                    <a:srgbClr val="487CE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30" name="方能演亦8"/>
            <p:cNvCxnSpPr/>
            <p:nvPr/>
          </p:nvCxnSpPr>
          <p:spPr>
            <a:xfrm flipH="1" flipV="1">
              <a:off x="1806" y="6765"/>
              <a:ext cx="7054" cy="56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487CE0">
                      <a:alpha val="0"/>
                    </a:srgbClr>
                  </a:gs>
                  <a:gs pos="100000">
                    <a:srgbClr val="487CE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</p:grpSp>
      <p:sp>
        <p:nvSpPr>
          <p:cNvPr id="4" name="圆角矩形 3"/>
          <p:cNvSpPr/>
          <p:nvPr/>
        </p:nvSpPr>
        <p:spPr>
          <a:xfrm>
            <a:off x="4552950" y="1718945"/>
            <a:ext cx="3086100" cy="698500"/>
          </a:xfrm>
          <a:prstGeom prst="roundRect">
            <a:avLst>
              <a:gd name="adj" fmla="val 50000"/>
            </a:avLst>
          </a:prstGeom>
          <a:solidFill>
            <a:srgbClr val="487CE0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95W" panose="020B0A04020202020204" charset="-122"/>
                <a:ea typeface="汉仪雅酷黑 95W" panose="020B0A04020202020204" charset="-122"/>
                <a:cs typeface="+mn-cs"/>
                <a:sym typeface="+mn-ea"/>
              </a:rPr>
              <a:t>赛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95W" panose="020B0A04020202020204" charset="-122"/>
                <a:ea typeface="汉仪雅酷黑 95W" panose="020B0A04020202020204" charset="-122"/>
                <a:cs typeface="+mn-cs"/>
                <a:sym typeface="+mn-ea"/>
              </a:rPr>
              <a:t>题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95W" panose="020B0A04020202020204" charset="-122"/>
                <a:ea typeface="汉仪雅酷黑 95W" panose="020B0A04020202020204" charset="-122"/>
                <a:cs typeface="+mn-cs"/>
                <a:sym typeface="+mn-ea"/>
              </a:rPr>
              <a:t>  7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95W" panose="020B0A04020202020204" charset="-122"/>
              <a:ea typeface="汉仪雅酷黑 95W" panose="020B0A04020202020204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34350" y="2755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020" y="2680970"/>
            <a:ext cx="12155170" cy="163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31165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0" cap="none" spc="0" normalizeH="0" baseline="0" noProof="0" dirty="0">
              <a:ln w="44450"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Heavy" panose="02010600030101010101" pitchFamily="18" charset="-122"/>
              <a:sym typeface="+mn-lt"/>
            </a:endParaRPr>
          </a:p>
        </p:txBody>
      </p:sp>
      <p:sp>
        <p:nvSpPr>
          <p:cNvPr id="9" name="方能演亦3"/>
          <p:cNvSpPr txBox="1"/>
          <p:nvPr/>
        </p:nvSpPr>
        <p:spPr>
          <a:xfrm>
            <a:off x="787190" y="3044279"/>
            <a:ext cx="10617620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contrasting" dir="t"/>
            </a:scene3d>
            <a:sp3d extrusionH="635000"/>
          </a:bodyPr>
          <a:lstStyle/>
          <a:p>
            <a:pPr lvl="0" algn="ctr"/>
            <a:r>
              <a:rPr lang="zh-CN" altLang="en-US" sz="4400" b="1">
                <a:ln>
                  <a:gradFill>
                    <a:gsLst>
                      <a:gs pos="17000">
                        <a:srgbClr val="326DDE"/>
                      </a:gs>
                      <a:gs pos="98000">
                        <a:srgbClr val="1988DE">
                          <a:lumMod val="61000"/>
                          <a:lumOff val="39000"/>
                        </a:srgbClr>
                      </a:gs>
                    </a:gsLst>
                    <a:lin ang="2700000" scaled="0"/>
                  </a:gradFill>
                </a:ln>
                <a:gradFill flip="none" rotWithShape="1">
                  <a:gsLst>
                    <a:gs pos="17000">
                      <a:srgbClr val="487CE0"/>
                    </a:gs>
                    <a:gs pos="70000">
                      <a:srgbClr val="487CE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reflection blurRad="165100" stA="78000" endPos="12000" dir="5400000" sy="-100000" algn="bl" rotWithShape="0"/>
                </a:effectLst>
                <a:latin typeface="汉仪雅酷黑 95W" panose="020B0A04020202020204" charset="-122"/>
                <a:ea typeface="汉仪雅酷黑 95W" panose="020B0A04020202020204" charset="-122"/>
                <a:cs typeface="汉仪雅酷黑 95W" panose="020B0A04020202020204" charset="-122"/>
              </a:rPr>
              <a:t>基于平面断层属性的断层多边形自动追踪</a:t>
            </a:r>
            <a:endParaRPr lang="zh-CN" altLang="en-US" sz="4400" b="1" dirty="0">
              <a:ln>
                <a:gradFill>
                  <a:gsLst>
                    <a:gs pos="17000">
                      <a:srgbClr val="326DDE"/>
                    </a:gs>
                    <a:gs pos="98000">
                      <a:srgbClr val="1988DE">
                        <a:lumMod val="61000"/>
                        <a:lumOff val="39000"/>
                      </a:srgbClr>
                    </a:gs>
                  </a:gsLst>
                  <a:lin ang="2700000" scaled="0"/>
                </a:gradFill>
              </a:ln>
              <a:gradFill flip="none" rotWithShape="1">
                <a:gsLst>
                  <a:gs pos="17000">
                    <a:srgbClr val="487CE0"/>
                  </a:gs>
                  <a:gs pos="70000">
                    <a:srgbClr val="487CE0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reflection blurRad="165100" stA="78000" endPos="12000" dir="5400000" sy="-100000" algn="bl" rotWithShape="0"/>
              </a:effectLst>
              <a:latin typeface="汉仪雅酷黑 95W" panose="020B0A04020202020204" charset="-122"/>
              <a:ea typeface="汉仪雅酷黑 95W" panose="020B0A04020202020204" charset="-122"/>
              <a:cs typeface="汉仪雅酷黑 95W" panose="020B0A04020202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4020" y="48260"/>
            <a:ext cx="5272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       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技术背景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92277" y="946532"/>
            <a:ext cx="11272749" cy="1702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地震资料构造解释的核心任务之一，是准确识别并刻画地下的断层系统。断层多边形解释是其中一项重要工作，它将离散的断点信息汇聚成闭合的二维多边形，既是连接二维剖面解释与三维断层面建模的桥梁，也是构建地质模型时不可或缺的约束要素。</a:t>
            </a:r>
            <a:endParaRPr lang="en-US" altLang="zh-CN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断层多边形是指断层面在某个地层层面上的投影，其形态通常为一个闭合的多边形，简称为断层多边形。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Picture 2" descr="sec">
            <a:extLst>
              <a:ext uri="{FF2B5EF4-FFF2-40B4-BE49-F238E27FC236}">
                <a16:creationId xmlns:a16="http://schemas.microsoft.com/office/drawing/2014/main" id="{B6B11A99-7CF6-B706-7C49-21AB3BD83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8681" t="12204" r="2407" b="4002"/>
          <a:stretch>
            <a:fillRect/>
          </a:stretch>
        </p:blipFill>
        <p:spPr bwMode="auto">
          <a:xfrm>
            <a:off x="524264" y="3068705"/>
            <a:ext cx="5234189" cy="294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39700" dist="1524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D21A686C-5896-1CB3-1A1C-BADADEBF2FF5}"/>
              </a:ext>
            </a:extLst>
          </p:cNvPr>
          <p:cNvSpPr txBox="1"/>
          <p:nvPr/>
        </p:nvSpPr>
        <p:spPr>
          <a:xfrm>
            <a:off x="1938376" y="6176495"/>
            <a:ext cx="2860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断层解释及平面投影</a:t>
            </a:r>
            <a:endParaRPr lang="zh-CN" altLang="en-US"/>
          </a:p>
        </p:txBody>
      </p:sp>
      <p:pic>
        <p:nvPicPr>
          <p:cNvPr id="34" name="图片 33" descr="616_3.png">
            <a:extLst>
              <a:ext uri="{FF2B5EF4-FFF2-40B4-BE49-F238E27FC236}">
                <a16:creationId xmlns:a16="http://schemas.microsoft.com/office/drawing/2014/main" id="{FF321875-324E-F9B7-90D4-77F56CFE22B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0075" t="8988" r="10626" b="8988"/>
          <a:stretch>
            <a:fillRect/>
          </a:stretch>
        </p:blipFill>
        <p:spPr>
          <a:xfrm>
            <a:off x="6000321" y="3068705"/>
            <a:ext cx="5667415" cy="2994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3CCE17F2-4F5C-2F83-C14C-20580230BFEC}"/>
              </a:ext>
            </a:extLst>
          </p:cNvPr>
          <p:cNvSpPr txBox="1"/>
          <p:nvPr/>
        </p:nvSpPr>
        <p:spPr>
          <a:xfrm>
            <a:off x="8602133" y="6138457"/>
            <a:ext cx="1651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断层多边形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6" descr="E:\GeoEast\2013\中期检查\3DV成果图\3DV成果图\3dv_9.png">
            <a:extLst>
              <a:ext uri="{FF2B5EF4-FFF2-40B4-BE49-F238E27FC236}">
                <a16:creationId xmlns:a16="http://schemas.microsoft.com/office/drawing/2014/main" id="{1C8CADE0-2153-D1BF-366A-738345AB3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47" y="2941650"/>
            <a:ext cx="28575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 descr="0525_wzl1">
            <a:extLst>
              <a:ext uri="{FF2B5EF4-FFF2-40B4-BE49-F238E27FC236}">
                <a16:creationId xmlns:a16="http://schemas.microsoft.com/office/drawing/2014/main" id="{A3540B8E-D0CC-2414-E9A5-8D4DBA05B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2194" t="16324" r="44341" b="40518"/>
          <a:stretch>
            <a:fillRect/>
          </a:stretch>
        </p:blipFill>
        <p:spPr bwMode="auto">
          <a:xfrm>
            <a:off x="4180308" y="2941650"/>
            <a:ext cx="2998501" cy="3286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39700" dist="1524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12" descr="0525_wzl5">
            <a:extLst>
              <a:ext uri="{FF2B5EF4-FFF2-40B4-BE49-F238E27FC236}">
                <a16:creationId xmlns:a16="http://schemas.microsoft.com/office/drawing/2014/main" id="{58A74854-E11D-85B6-5183-E888EE859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996" t="15958" r="16142" b="24832"/>
          <a:stretch>
            <a:fillRect/>
          </a:stretch>
        </p:blipFill>
        <p:spPr bwMode="auto">
          <a:xfrm>
            <a:off x="7874420" y="2941650"/>
            <a:ext cx="2909164" cy="32377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39700" dist="1524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9BDC534-9855-3B6B-3BB6-6D9198A51F2B}"/>
              </a:ext>
            </a:extLst>
          </p:cNvPr>
          <p:cNvSpPr txBox="1"/>
          <p:nvPr/>
        </p:nvSpPr>
        <p:spPr>
          <a:xfrm>
            <a:off x="1371601" y="6335838"/>
            <a:ext cx="1711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剖面断层解释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9B87B1F-1AC7-CDA1-5FC3-8C4127CAB899}"/>
              </a:ext>
            </a:extLst>
          </p:cNvPr>
          <p:cNvSpPr txBox="1"/>
          <p:nvPr/>
        </p:nvSpPr>
        <p:spPr>
          <a:xfrm>
            <a:off x="4898577" y="6335838"/>
            <a:ext cx="156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平面断层点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0470F9E-9728-9173-284B-CBC6A3F6F82F}"/>
              </a:ext>
            </a:extLst>
          </p:cNvPr>
          <p:cNvSpPr txBox="1"/>
          <p:nvPr/>
        </p:nvSpPr>
        <p:spPr>
          <a:xfrm>
            <a:off x="8640564" y="6287498"/>
            <a:ext cx="156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断层多边形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EB1A8B-EB31-8530-0B72-E6B8C7162006}"/>
              </a:ext>
            </a:extLst>
          </p:cNvPr>
          <p:cNvSpPr txBox="1"/>
          <p:nvPr/>
        </p:nvSpPr>
        <p:spPr>
          <a:xfrm>
            <a:off x="563391" y="1059771"/>
            <a:ext cx="609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目前在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GeoEast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软件中提供了两种断层多边形的生成方式：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E53C36-C612-A432-6E91-829DAB2C2721}"/>
              </a:ext>
            </a:extLst>
          </p:cNvPr>
          <p:cNvSpPr txBox="1"/>
          <p:nvPr/>
        </p:nvSpPr>
        <p:spPr>
          <a:xfrm>
            <a:off x="2954020" y="48260"/>
            <a:ext cx="5272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       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技术背景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DAC556-501C-FBCC-FDEC-5EBBD9528DC6}"/>
              </a:ext>
            </a:extLst>
          </p:cNvPr>
          <p:cNvSpPr txBox="1"/>
          <p:nvPr/>
        </p:nvSpPr>
        <p:spPr>
          <a:xfrm>
            <a:off x="676746" y="1655066"/>
            <a:ext cx="10545435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zh-CN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1.</a:t>
            </a:r>
            <a:r>
              <a:rPr lang="zh-CN" altLang="en-US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基于解释完层位和断层，并正确分配断层后，通过计算的断点实现断层多边形的自动追踪</a:t>
            </a:r>
            <a:endParaRPr lang="zh-CN" altLang="zh-CN" sz="1400" kern="10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7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91A3CD-89F9-6BC0-64F3-FFFA9CB2631F}"/>
              </a:ext>
            </a:extLst>
          </p:cNvPr>
          <p:cNvSpPr txBox="1"/>
          <p:nvPr/>
        </p:nvSpPr>
        <p:spPr>
          <a:xfrm>
            <a:off x="253413" y="909999"/>
            <a:ext cx="10545435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zh-CN" kern="10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lang="en-US" altLang="zh-CN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lang="zh-CN" altLang="zh-CN">
                <a:latin typeface="黑体" panose="02010609060101010101" pitchFamily="49" charset="-122"/>
                <a:ea typeface="黑体" panose="02010609060101010101" pitchFamily="49" charset="-122"/>
              </a:rPr>
              <a:t>基于断层平面属性，通过手工拾方式取断层多边形</a:t>
            </a:r>
            <a:endParaRPr lang="zh-CN" altLang="zh-CN" sz="1400" kern="10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77B53B-64D3-B280-8FC8-B45588BF47F3}"/>
              </a:ext>
            </a:extLst>
          </p:cNvPr>
          <p:cNvSpPr txBox="1"/>
          <p:nvPr/>
        </p:nvSpPr>
        <p:spPr>
          <a:xfrm>
            <a:off x="2954020" y="48260"/>
            <a:ext cx="5272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       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技术背景</a:t>
            </a:r>
          </a:p>
        </p:txBody>
      </p:sp>
      <p:pic>
        <p:nvPicPr>
          <p:cNvPr id="4" name="图片 3" descr="屏幕剪辑">
            <a:extLst>
              <a:ext uri="{FF2B5EF4-FFF2-40B4-BE49-F238E27FC236}">
                <a16:creationId xmlns:a16="http://schemas.microsoft.com/office/drawing/2014/main" id="{22527D65-F9D7-8B5E-6289-802A02EC7F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47" y="2047346"/>
            <a:ext cx="4150946" cy="36507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6F31CE85-BBCA-520E-DC36-7BB6E3944D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993" y="2047346"/>
            <a:ext cx="4150946" cy="36507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E78C283-EC6A-409E-4BD4-977FEFA88CEA}"/>
              </a:ext>
            </a:extLst>
          </p:cNvPr>
          <p:cNvSpPr/>
          <p:nvPr/>
        </p:nvSpPr>
        <p:spPr>
          <a:xfrm>
            <a:off x="6324600" y="2133600"/>
            <a:ext cx="2768600" cy="1430867"/>
          </a:xfrm>
          <a:custGeom>
            <a:avLst/>
            <a:gdLst>
              <a:gd name="connsiteX0" fmla="*/ 16933 w 2768600"/>
              <a:gd name="connsiteY0" fmla="*/ 1202267 h 1430867"/>
              <a:gd name="connsiteX1" fmla="*/ 169333 w 2768600"/>
              <a:gd name="connsiteY1" fmla="*/ 1032933 h 1430867"/>
              <a:gd name="connsiteX2" fmla="*/ 372533 w 2768600"/>
              <a:gd name="connsiteY2" fmla="*/ 889000 h 1430867"/>
              <a:gd name="connsiteX3" fmla="*/ 474133 w 2768600"/>
              <a:gd name="connsiteY3" fmla="*/ 719667 h 1430867"/>
              <a:gd name="connsiteX4" fmla="*/ 567267 w 2768600"/>
              <a:gd name="connsiteY4" fmla="*/ 499533 h 1430867"/>
              <a:gd name="connsiteX5" fmla="*/ 677333 w 2768600"/>
              <a:gd name="connsiteY5" fmla="*/ 465667 h 1430867"/>
              <a:gd name="connsiteX6" fmla="*/ 651933 w 2768600"/>
              <a:gd name="connsiteY6" fmla="*/ 694267 h 1430867"/>
              <a:gd name="connsiteX7" fmla="*/ 364067 w 2768600"/>
              <a:gd name="connsiteY7" fmla="*/ 1075267 h 1430867"/>
              <a:gd name="connsiteX8" fmla="*/ 245533 w 2768600"/>
              <a:gd name="connsiteY8" fmla="*/ 1185333 h 1430867"/>
              <a:gd name="connsiteX9" fmla="*/ 956733 w 2768600"/>
              <a:gd name="connsiteY9" fmla="*/ 1032933 h 1430867"/>
              <a:gd name="connsiteX10" fmla="*/ 1168400 w 2768600"/>
              <a:gd name="connsiteY10" fmla="*/ 804333 h 1430867"/>
              <a:gd name="connsiteX11" fmla="*/ 1422400 w 2768600"/>
              <a:gd name="connsiteY11" fmla="*/ 550333 h 1430867"/>
              <a:gd name="connsiteX12" fmla="*/ 1701800 w 2768600"/>
              <a:gd name="connsiteY12" fmla="*/ 457200 h 1430867"/>
              <a:gd name="connsiteX13" fmla="*/ 1921933 w 2768600"/>
              <a:gd name="connsiteY13" fmla="*/ 330200 h 1430867"/>
              <a:gd name="connsiteX14" fmla="*/ 2048933 w 2768600"/>
              <a:gd name="connsiteY14" fmla="*/ 245533 h 1430867"/>
              <a:gd name="connsiteX15" fmla="*/ 2328333 w 2768600"/>
              <a:gd name="connsiteY15" fmla="*/ 152400 h 1430867"/>
              <a:gd name="connsiteX16" fmla="*/ 2556933 w 2768600"/>
              <a:gd name="connsiteY16" fmla="*/ 67733 h 1430867"/>
              <a:gd name="connsiteX17" fmla="*/ 2658533 w 2768600"/>
              <a:gd name="connsiteY17" fmla="*/ 0 h 1430867"/>
              <a:gd name="connsiteX18" fmla="*/ 2768600 w 2768600"/>
              <a:gd name="connsiteY18" fmla="*/ 93133 h 1430867"/>
              <a:gd name="connsiteX19" fmla="*/ 2565400 w 2768600"/>
              <a:gd name="connsiteY19" fmla="*/ 245533 h 1430867"/>
              <a:gd name="connsiteX20" fmla="*/ 2379133 w 2768600"/>
              <a:gd name="connsiteY20" fmla="*/ 330200 h 1430867"/>
              <a:gd name="connsiteX21" fmla="*/ 2150533 w 2768600"/>
              <a:gd name="connsiteY21" fmla="*/ 364067 h 1430867"/>
              <a:gd name="connsiteX22" fmla="*/ 1947333 w 2768600"/>
              <a:gd name="connsiteY22" fmla="*/ 508000 h 1430867"/>
              <a:gd name="connsiteX23" fmla="*/ 1710267 w 2768600"/>
              <a:gd name="connsiteY23" fmla="*/ 651933 h 1430867"/>
              <a:gd name="connsiteX24" fmla="*/ 1422400 w 2768600"/>
              <a:gd name="connsiteY24" fmla="*/ 778933 h 1430867"/>
              <a:gd name="connsiteX25" fmla="*/ 1210733 w 2768600"/>
              <a:gd name="connsiteY25" fmla="*/ 1032933 h 1430867"/>
              <a:gd name="connsiteX26" fmla="*/ 990600 w 2768600"/>
              <a:gd name="connsiteY26" fmla="*/ 1210733 h 1430867"/>
              <a:gd name="connsiteX27" fmla="*/ 575733 w 2768600"/>
              <a:gd name="connsiteY27" fmla="*/ 1312333 h 1430867"/>
              <a:gd name="connsiteX28" fmla="*/ 330200 w 2768600"/>
              <a:gd name="connsiteY28" fmla="*/ 1380067 h 1430867"/>
              <a:gd name="connsiteX29" fmla="*/ 177800 w 2768600"/>
              <a:gd name="connsiteY29" fmla="*/ 1397000 h 1430867"/>
              <a:gd name="connsiteX30" fmla="*/ 0 w 2768600"/>
              <a:gd name="connsiteY30" fmla="*/ 1430867 h 143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68600" h="1430867">
                <a:moveTo>
                  <a:pt x="16933" y="1202267"/>
                </a:moveTo>
                <a:lnTo>
                  <a:pt x="169333" y="1032933"/>
                </a:lnTo>
                <a:lnTo>
                  <a:pt x="372533" y="889000"/>
                </a:lnTo>
                <a:lnTo>
                  <a:pt x="474133" y="719667"/>
                </a:lnTo>
                <a:lnTo>
                  <a:pt x="567267" y="499533"/>
                </a:lnTo>
                <a:lnTo>
                  <a:pt x="677333" y="465667"/>
                </a:lnTo>
                <a:lnTo>
                  <a:pt x="651933" y="694267"/>
                </a:lnTo>
                <a:lnTo>
                  <a:pt x="364067" y="1075267"/>
                </a:lnTo>
                <a:lnTo>
                  <a:pt x="245533" y="1185333"/>
                </a:lnTo>
                <a:lnTo>
                  <a:pt x="956733" y="1032933"/>
                </a:lnTo>
                <a:lnTo>
                  <a:pt x="1168400" y="804333"/>
                </a:lnTo>
                <a:lnTo>
                  <a:pt x="1422400" y="550333"/>
                </a:lnTo>
                <a:lnTo>
                  <a:pt x="1701800" y="457200"/>
                </a:lnTo>
                <a:lnTo>
                  <a:pt x="1921933" y="330200"/>
                </a:lnTo>
                <a:lnTo>
                  <a:pt x="2048933" y="245533"/>
                </a:lnTo>
                <a:lnTo>
                  <a:pt x="2328333" y="152400"/>
                </a:lnTo>
                <a:lnTo>
                  <a:pt x="2556933" y="67733"/>
                </a:lnTo>
                <a:lnTo>
                  <a:pt x="2658533" y="0"/>
                </a:lnTo>
                <a:lnTo>
                  <a:pt x="2768600" y="93133"/>
                </a:lnTo>
                <a:lnTo>
                  <a:pt x="2565400" y="245533"/>
                </a:lnTo>
                <a:lnTo>
                  <a:pt x="2379133" y="330200"/>
                </a:lnTo>
                <a:lnTo>
                  <a:pt x="2150533" y="364067"/>
                </a:lnTo>
                <a:lnTo>
                  <a:pt x="1947333" y="508000"/>
                </a:lnTo>
                <a:lnTo>
                  <a:pt x="1710267" y="651933"/>
                </a:lnTo>
                <a:lnTo>
                  <a:pt x="1422400" y="778933"/>
                </a:lnTo>
                <a:lnTo>
                  <a:pt x="1210733" y="1032933"/>
                </a:lnTo>
                <a:lnTo>
                  <a:pt x="990600" y="1210733"/>
                </a:lnTo>
                <a:lnTo>
                  <a:pt x="575733" y="1312333"/>
                </a:lnTo>
                <a:lnTo>
                  <a:pt x="330200" y="1380067"/>
                </a:lnTo>
                <a:lnTo>
                  <a:pt x="177800" y="1397000"/>
                </a:lnTo>
                <a:lnTo>
                  <a:pt x="0" y="1430867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C661B291-E1D8-E097-CC0F-E95FF93FE5D8}"/>
              </a:ext>
            </a:extLst>
          </p:cNvPr>
          <p:cNvSpPr/>
          <p:nvPr/>
        </p:nvSpPr>
        <p:spPr>
          <a:xfrm>
            <a:off x="6874933" y="2582333"/>
            <a:ext cx="1820334" cy="1227667"/>
          </a:xfrm>
          <a:custGeom>
            <a:avLst/>
            <a:gdLst>
              <a:gd name="connsiteX0" fmla="*/ 59267 w 1820334"/>
              <a:gd name="connsiteY0" fmla="*/ 1083734 h 1227667"/>
              <a:gd name="connsiteX1" fmla="*/ 440267 w 1820334"/>
              <a:gd name="connsiteY1" fmla="*/ 880534 h 1227667"/>
              <a:gd name="connsiteX2" fmla="*/ 668867 w 1820334"/>
              <a:gd name="connsiteY2" fmla="*/ 753534 h 1227667"/>
              <a:gd name="connsiteX3" fmla="*/ 889000 w 1820334"/>
              <a:gd name="connsiteY3" fmla="*/ 482600 h 1227667"/>
              <a:gd name="connsiteX4" fmla="*/ 1134534 w 1820334"/>
              <a:gd name="connsiteY4" fmla="*/ 262467 h 1227667"/>
              <a:gd name="connsiteX5" fmla="*/ 1600200 w 1820334"/>
              <a:gd name="connsiteY5" fmla="*/ 33867 h 1227667"/>
              <a:gd name="connsiteX6" fmla="*/ 1769534 w 1820334"/>
              <a:gd name="connsiteY6" fmla="*/ 0 h 1227667"/>
              <a:gd name="connsiteX7" fmla="*/ 1820334 w 1820334"/>
              <a:gd name="connsiteY7" fmla="*/ 110067 h 1227667"/>
              <a:gd name="connsiteX8" fmla="*/ 1524000 w 1820334"/>
              <a:gd name="connsiteY8" fmla="*/ 245534 h 1227667"/>
              <a:gd name="connsiteX9" fmla="*/ 1185334 w 1820334"/>
              <a:gd name="connsiteY9" fmla="*/ 431800 h 1227667"/>
              <a:gd name="connsiteX10" fmla="*/ 999067 w 1820334"/>
              <a:gd name="connsiteY10" fmla="*/ 651934 h 1227667"/>
              <a:gd name="connsiteX11" fmla="*/ 753534 w 1820334"/>
              <a:gd name="connsiteY11" fmla="*/ 939800 h 1227667"/>
              <a:gd name="connsiteX12" fmla="*/ 389467 w 1820334"/>
              <a:gd name="connsiteY12" fmla="*/ 1083734 h 1227667"/>
              <a:gd name="connsiteX13" fmla="*/ 194734 w 1820334"/>
              <a:gd name="connsiteY13" fmla="*/ 1210734 h 1227667"/>
              <a:gd name="connsiteX14" fmla="*/ 0 w 1820334"/>
              <a:gd name="connsiteY14" fmla="*/ 1227667 h 1227667"/>
              <a:gd name="connsiteX15" fmla="*/ 0 w 1820334"/>
              <a:gd name="connsiteY15" fmla="*/ 1134534 h 1227667"/>
              <a:gd name="connsiteX16" fmla="*/ 59267 w 1820334"/>
              <a:gd name="connsiteY16" fmla="*/ 1083734 h 122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0334" h="1227667">
                <a:moveTo>
                  <a:pt x="59267" y="1083734"/>
                </a:moveTo>
                <a:lnTo>
                  <a:pt x="440267" y="880534"/>
                </a:lnTo>
                <a:lnTo>
                  <a:pt x="668867" y="753534"/>
                </a:lnTo>
                <a:lnTo>
                  <a:pt x="889000" y="482600"/>
                </a:lnTo>
                <a:lnTo>
                  <a:pt x="1134534" y="262467"/>
                </a:lnTo>
                <a:lnTo>
                  <a:pt x="1600200" y="33867"/>
                </a:lnTo>
                <a:lnTo>
                  <a:pt x="1769534" y="0"/>
                </a:lnTo>
                <a:lnTo>
                  <a:pt x="1820334" y="110067"/>
                </a:lnTo>
                <a:lnTo>
                  <a:pt x="1524000" y="245534"/>
                </a:lnTo>
                <a:lnTo>
                  <a:pt x="1185334" y="431800"/>
                </a:lnTo>
                <a:lnTo>
                  <a:pt x="999067" y="651934"/>
                </a:lnTo>
                <a:lnTo>
                  <a:pt x="753534" y="939800"/>
                </a:lnTo>
                <a:lnTo>
                  <a:pt x="389467" y="1083734"/>
                </a:lnTo>
                <a:lnTo>
                  <a:pt x="194734" y="1210734"/>
                </a:lnTo>
                <a:lnTo>
                  <a:pt x="0" y="1227667"/>
                </a:lnTo>
                <a:lnTo>
                  <a:pt x="0" y="1134534"/>
                </a:lnTo>
                <a:lnTo>
                  <a:pt x="59267" y="1083734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634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4020" y="48260"/>
            <a:ext cx="5272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       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技术背景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7059A86-AB38-AFD2-F6A6-18C93B344CDB}"/>
              </a:ext>
            </a:extLst>
          </p:cNvPr>
          <p:cNvSpPr txBox="1"/>
          <p:nvPr/>
        </p:nvSpPr>
        <p:spPr>
          <a:xfrm>
            <a:off x="641349" y="1151235"/>
            <a:ext cx="10119783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以上两种方式对</a:t>
            </a:r>
            <a:r>
              <a:rPr lang="zh-CN" altLang="en-US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数据和解释质量</a:t>
            </a:r>
            <a:r>
              <a:rPr lang="zh-CN" altLang="zh-CN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要求高、且整体效率偏低。因此，探索基于平面断层属性实现断层多边形的自动追踪，将有效降低人工干预，提高解释效率，更好地支撑当前高效勘探的需求</a:t>
            </a:r>
            <a:r>
              <a:rPr lang="zh-CN" altLang="zh-CN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7" name="图片 126" descr="屏幕剪辑">
            <a:extLst>
              <a:ext uri="{FF2B5EF4-FFF2-40B4-BE49-F238E27FC236}">
                <a16:creationId xmlns:a16="http://schemas.microsoft.com/office/drawing/2014/main" id="{D150D151-9727-A5AE-82B1-89EBBB0A95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060" y="2405832"/>
            <a:ext cx="4170201" cy="36676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8" name="图片 127" descr="图片2">
            <a:extLst>
              <a:ext uri="{FF2B5EF4-FFF2-40B4-BE49-F238E27FC236}">
                <a16:creationId xmlns:a16="http://schemas.microsoft.com/office/drawing/2014/main" id="{D072E220-2C64-E6D1-FFE5-B1F88954D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972" y="2405832"/>
            <a:ext cx="4170200" cy="36763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4020" y="48260"/>
            <a:ext cx="5272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       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试题要求</a:t>
            </a:r>
            <a:endParaRPr lang="zh-CN" sz="4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1005" y="921879"/>
            <a:ext cx="6088146" cy="3646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zh-CN" b="1">
                <a:latin typeface="黑体" panose="02010609060101010101" pitchFamily="49" charset="-122"/>
                <a:ea typeface="黑体" panose="02010609060101010101" pitchFamily="49" charset="-122"/>
              </a:rPr>
              <a:t>基于平面断层属性，设计并实现一种高效的断层多边形自动追踪方法，提升构造解释的自动化水平。具体要求如下</a:t>
            </a:r>
            <a:endParaRPr lang="en-US" altLang="zh-CN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defRPr/>
            </a:pPr>
            <a:endParaRPr lang="zh-CN" altLang="en-US" sz="1000" b="1" kern="1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 defTabSz="914400">
              <a:defRPr/>
            </a:pPr>
            <a:r>
              <a:rPr lang="zh-CN" altLang="en-US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</a:t>
            </a:r>
            <a:r>
              <a:rPr lang="zh-CN" altLang="zh-CN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需求：</a:t>
            </a:r>
          </a:p>
          <a:p>
            <a:pPr lvl="0">
              <a:lnSpc>
                <a:spcPct val="150000"/>
              </a:lnSpc>
            </a:pPr>
            <a:r>
              <a:rPr lang="en-US" altLang="zh-CN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、基于输入的平面断层属性数据，开发一种断层多边形自动追踪算法。</a:t>
            </a:r>
            <a:endParaRPr lang="zh-CN" altLang="en-US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、支持对追踪结果进行面积统计，并可依据用户设定的面积阈值，过滤掉小于阈值的多边形。</a:t>
            </a:r>
            <a:endParaRPr lang="zh-CN" altLang="en-US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、能够合理处理断层之间的交切关系。</a:t>
            </a:r>
            <a:endParaRPr lang="zh-CN" altLang="en-US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</a:t>
            </a:r>
            <a:r>
              <a:rPr lang="zh-CN" altLang="en-US" b="1" kern="1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、每个追踪得到的多边形应为闭合区域。</a:t>
            </a:r>
            <a:endParaRPr lang="zh-CN" altLang="en-US" b="1" kern="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625971037"/>
              </p:ext>
            </p:extLst>
          </p:nvPr>
        </p:nvGraphicFramePr>
        <p:xfrm>
          <a:off x="6454352" y="1249574"/>
          <a:ext cx="5267960" cy="5106546"/>
        </p:xfrm>
        <a:graphic>
          <a:graphicData uri="http://schemas.openxmlformats.org/drawingml/2006/table">
            <a:tbl>
              <a:tblPr/>
              <a:tblGrid>
                <a:gridCol w="5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6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序号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评分项目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总分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评分标准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分值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045">
                <a:tc rowSpan="4"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方法与功能性指标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70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、能正确读取</a:t>
                      </a: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GeoEast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数据库中指定断层属性数据，将追踪的断层多边形的数据正确写入数据库，并集成到</a:t>
                      </a: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GeoEast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系统。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0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、正确实现实现断层多边形的自动追踪功能，边界平滑自然，。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3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、支持根据面积阈值过滤多边形功能。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0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4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、算法原理表述清晰、计算结果展示直观、文档逻辑严谨、结构完整。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 rowSpan="2"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性能指标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、算法核心处理部分在</a:t>
                      </a: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分钟内完成</a:t>
                      </a:r>
                      <a:r>
                        <a:rPr 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</a:t>
                      </a:r>
                      <a:r>
                        <a:rPr lang="zh-CN" altLang="en-US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、内存使用合理，无溢出或泄漏</a:t>
                      </a:r>
                      <a:r>
                        <a:rPr lang="zh-CN" sz="140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518E06B-A456-2268-07A7-EDB07E72AF8B}"/>
              </a:ext>
            </a:extLst>
          </p:cNvPr>
          <p:cNvSpPr txBox="1"/>
          <p:nvPr/>
        </p:nvSpPr>
        <p:spPr>
          <a:xfrm>
            <a:off x="231005" y="4571413"/>
            <a:ext cx="6058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集成方式：算法模块应可独立运行，也可以集成到</a:t>
            </a:r>
            <a:r>
              <a:rPr lang="en-US" altLang="zh-CN" sz="1800" b="1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GeoEast</a:t>
            </a:r>
            <a:r>
              <a:rPr lang="zh-CN" altLang="zh-CN" sz="1800" b="1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平台中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5CE0B8-E1FD-673F-835B-B24BB94C0C48}"/>
              </a:ext>
            </a:extLst>
          </p:cNvPr>
          <p:cNvSpPr txBox="1"/>
          <p:nvPr/>
        </p:nvSpPr>
        <p:spPr>
          <a:xfrm>
            <a:off x="216199" y="5209279"/>
            <a:ext cx="608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界面设计：提供友好的用户交互界面，支持输入数据选择、输出数据命名以及必要计算参数的设置；可以读写外部文件也可以读写</a:t>
            </a:r>
            <a:r>
              <a:rPr lang="en-US" altLang="zh-CN" sz="1800" b="1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GeoEast</a:t>
            </a:r>
            <a:r>
              <a:rPr lang="zh-CN" altLang="zh-CN" sz="1800" b="1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数据库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BA52FB-0B68-D694-A178-99F1B1F83199}"/>
              </a:ext>
            </a:extLst>
          </p:cNvPr>
          <p:cNvSpPr txBox="1"/>
          <p:nvPr/>
        </p:nvSpPr>
        <p:spPr>
          <a:xfrm>
            <a:off x="214071" y="6149541"/>
            <a:ext cx="6073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文档要求：提交完整的软件设计说明文档及代码编制说明文档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4020" y="48260"/>
            <a:ext cx="5272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       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测试数据</a:t>
            </a:r>
            <a:endParaRPr lang="en-US" altLang="zh-CN" sz="4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60106F-59AF-945C-2FAE-7C8D4F17B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" t="4676" r="2384" b="5520"/>
          <a:stretch>
            <a:fillRect/>
          </a:stretch>
        </p:blipFill>
        <p:spPr>
          <a:xfrm>
            <a:off x="804333" y="1371600"/>
            <a:ext cx="10481734" cy="47159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5B515AB-B967-D119-37B1-06838DF9B6E9}"/>
              </a:ext>
            </a:extLst>
          </p:cNvPr>
          <p:cNvSpPr txBox="1"/>
          <p:nvPr/>
        </p:nvSpPr>
        <p:spPr>
          <a:xfrm>
            <a:off x="5328708" y="6203433"/>
            <a:ext cx="2897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10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断层平面属性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54020" y="48260"/>
            <a:ext cx="5272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        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效果示意图</a:t>
            </a:r>
            <a:endParaRPr lang="zh-CN" sz="4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E22CFA-C121-80DD-4FCE-04D4304E2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962" y="1976543"/>
            <a:ext cx="3214800" cy="27647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任意多边形 11">
            <a:extLst>
              <a:ext uri="{FF2B5EF4-FFF2-40B4-BE49-F238E27FC236}">
                <a16:creationId xmlns:a16="http://schemas.microsoft.com/office/drawing/2014/main" id="{4CDB0E29-93E9-9004-17DA-92CA4263ED4A}"/>
              </a:ext>
            </a:extLst>
          </p:cNvPr>
          <p:cNvSpPr/>
          <p:nvPr/>
        </p:nvSpPr>
        <p:spPr>
          <a:xfrm>
            <a:off x="6504622" y="1976543"/>
            <a:ext cx="3096578" cy="2688590"/>
          </a:xfrm>
          <a:custGeom>
            <a:avLst/>
            <a:gdLst>
              <a:gd name="connisteX0" fmla="*/ 291465 w 1321435"/>
              <a:gd name="connsiteY0" fmla="*/ 661035 h 1148715"/>
              <a:gd name="connisteX1" fmla="*/ 487680 w 1321435"/>
              <a:gd name="connsiteY1" fmla="*/ 583565 h 1148715"/>
              <a:gd name="connisteX2" fmla="*/ 589280 w 1321435"/>
              <a:gd name="connsiteY2" fmla="*/ 535940 h 1148715"/>
              <a:gd name="connisteX3" fmla="*/ 695960 w 1321435"/>
              <a:gd name="connsiteY3" fmla="*/ 476250 h 1148715"/>
              <a:gd name="connisteX4" fmla="*/ 755650 w 1321435"/>
              <a:gd name="connsiteY4" fmla="*/ 452755 h 1148715"/>
              <a:gd name="connisteX5" fmla="*/ 850900 w 1321435"/>
              <a:gd name="connsiteY5" fmla="*/ 357505 h 1148715"/>
              <a:gd name="connisteX6" fmla="*/ 963930 w 1321435"/>
              <a:gd name="connsiteY6" fmla="*/ 267970 h 1148715"/>
              <a:gd name="connisteX7" fmla="*/ 1106805 w 1321435"/>
              <a:gd name="connsiteY7" fmla="*/ 130810 h 1148715"/>
              <a:gd name="connisteX8" fmla="*/ 1285875 w 1321435"/>
              <a:gd name="connsiteY8" fmla="*/ 0 h 1148715"/>
              <a:gd name="connisteX9" fmla="*/ 1321435 w 1321435"/>
              <a:gd name="connsiteY9" fmla="*/ 0 h 1148715"/>
              <a:gd name="connisteX10" fmla="*/ 1321435 w 1321435"/>
              <a:gd name="connsiteY10" fmla="*/ 41910 h 1148715"/>
              <a:gd name="connisteX11" fmla="*/ 1196340 w 1321435"/>
              <a:gd name="connsiteY11" fmla="*/ 137160 h 1148715"/>
              <a:gd name="connisteX12" fmla="*/ 1059180 w 1321435"/>
              <a:gd name="connsiteY12" fmla="*/ 250190 h 1148715"/>
              <a:gd name="connisteX13" fmla="*/ 958215 w 1321435"/>
              <a:gd name="connsiteY13" fmla="*/ 345440 h 1148715"/>
              <a:gd name="connisteX14" fmla="*/ 892810 w 1321435"/>
              <a:gd name="connsiteY14" fmla="*/ 434340 h 1148715"/>
              <a:gd name="connisteX15" fmla="*/ 838835 w 1321435"/>
              <a:gd name="connsiteY15" fmla="*/ 548005 h 1148715"/>
              <a:gd name="connisteX16" fmla="*/ 785495 w 1321435"/>
              <a:gd name="connsiteY16" fmla="*/ 678815 h 1148715"/>
              <a:gd name="connisteX17" fmla="*/ 690245 w 1321435"/>
              <a:gd name="connsiteY17" fmla="*/ 827405 h 1148715"/>
              <a:gd name="connisteX18" fmla="*/ 541655 w 1321435"/>
              <a:gd name="connsiteY18" fmla="*/ 964565 h 1148715"/>
              <a:gd name="connisteX19" fmla="*/ 416560 w 1321435"/>
              <a:gd name="connsiteY19" fmla="*/ 1017905 h 1148715"/>
              <a:gd name="connisteX20" fmla="*/ 196215 w 1321435"/>
              <a:gd name="connsiteY20" fmla="*/ 1077595 h 1148715"/>
              <a:gd name="connisteX21" fmla="*/ 23495 w 1321435"/>
              <a:gd name="connsiteY21" fmla="*/ 1148715 h 1148715"/>
              <a:gd name="connisteX22" fmla="*/ 0 w 1321435"/>
              <a:gd name="connsiteY22" fmla="*/ 1143000 h 1148715"/>
              <a:gd name="connisteX23" fmla="*/ 5715 w 1321435"/>
              <a:gd name="connsiteY23" fmla="*/ 1083310 h 1148715"/>
              <a:gd name="connisteX24" fmla="*/ 71120 w 1321435"/>
              <a:gd name="connsiteY24" fmla="*/ 1042035 h 1148715"/>
              <a:gd name="connisteX25" fmla="*/ 208280 w 1321435"/>
              <a:gd name="connsiteY25" fmla="*/ 988060 h 1148715"/>
              <a:gd name="connisteX26" fmla="*/ 339090 w 1321435"/>
              <a:gd name="connsiteY26" fmla="*/ 976630 h 1148715"/>
              <a:gd name="connisteX27" fmla="*/ 481965 w 1321435"/>
              <a:gd name="connsiteY27" fmla="*/ 887095 h 1148715"/>
              <a:gd name="connisteX28" fmla="*/ 607060 w 1321435"/>
              <a:gd name="connsiteY28" fmla="*/ 827405 h 1148715"/>
              <a:gd name="connisteX29" fmla="*/ 702310 w 1321435"/>
              <a:gd name="connsiteY29" fmla="*/ 684530 h 1148715"/>
              <a:gd name="connisteX30" fmla="*/ 732155 w 1321435"/>
              <a:gd name="connsiteY30" fmla="*/ 559435 h 1148715"/>
              <a:gd name="connisteX31" fmla="*/ 762000 w 1321435"/>
              <a:gd name="connsiteY31" fmla="*/ 518160 h 1148715"/>
              <a:gd name="connisteX32" fmla="*/ 648335 w 1321435"/>
              <a:gd name="connsiteY32" fmla="*/ 559435 h 1148715"/>
              <a:gd name="connisteX33" fmla="*/ 505460 w 1321435"/>
              <a:gd name="connsiteY33" fmla="*/ 654685 h 1148715"/>
              <a:gd name="connisteX34" fmla="*/ 356870 w 1321435"/>
              <a:gd name="connsiteY34" fmla="*/ 702310 h 1148715"/>
              <a:gd name="connisteX35" fmla="*/ 291465 w 1321435"/>
              <a:gd name="connsiteY35" fmla="*/ 696595 h 11487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</a:cxnLst>
            <a:rect l="l" t="t" r="r" b="b"/>
            <a:pathLst>
              <a:path w="1321435" h="1148715">
                <a:moveTo>
                  <a:pt x="291465" y="661035"/>
                </a:moveTo>
                <a:lnTo>
                  <a:pt x="487680" y="583565"/>
                </a:lnTo>
                <a:lnTo>
                  <a:pt x="589280" y="535940"/>
                </a:lnTo>
                <a:lnTo>
                  <a:pt x="695960" y="476250"/>
                </a:lnTo>
                <a:lnTo>
                  <a:pt x="755650" y="452755"/>
                </a:lnTo>
                <a:lnTo>
                  <a:pt x="850900" y="357505"/>
                </a:lnTo>
                <a:lnTo>
                  <a:pt x="963930" y="267970"/>
                </a:lnTo>
                <a:lnTo>
                  <a:pt x="1106805" y="130810"/>
                </a:lnTo>
                <a:lnTo>
                  <a:pt x="1285875" y="0"/>
                </a:lnTo>
                <a:lnTo>
                  <a:pt x="1321435" y="0"/>
                </a:lnTo>
                <a:lnTo>
                  <a:pt x="1321435" y="41910"/>
                </a:lnTo>
                <a:lnTo>
                  <a:pt x="1196340" y="137160"/>
                </a:lnTo>
                <a:lnTo>
                  <a:pt x="1059180" y="250190"/>
                </a:lnTo>
                <a:lnTo>
                  <a:pt x="958215" y="345440"/>
                </a:lnTo>
                <a:lnTo>
                  <a:pt x="892810" y="434340"/>
                </a:lnTo>
                <a:lnTo>
                  <a:pt x="838835" y="548005"/>
                </a:lnTo>
                <a:lnTo>
                  <a:pt x="785495" y="678815"/>
                </a:lnTo>
                <a:lnTo>
                  <a:pt x="690245" y="827405"/>
                </a:lnTo>
                <a:lnTo>
                  <a:pt x="541655" y="964565"/>
                </a:lnTo>
                <a:lnTo>
                  <a:pt x="416560" y="1017905"/>
                </a:lnTo>
                <a:lnTo>
                  <a:pt x="196215" y="1077595"/>
                </a:lnTo>
                <a:lnTo>
                  <a:pt x="23495" y="1148715"/>
                </a:lnTo>
                <a:lnTo>
                  <a:pt x="0" y="1143000"/>
                </a:lnTo>
                <a:lnTo>
                  <a:pt x="5715" y="1083310"/>
                </a:lnTo>
                <a:lnTo>
                  <a:pt x="71120" y="1042035"/>
                </a:lnTo>
                <a:lnTo>
                  <a:pt x="208280" y="988060"/>
                </a:lnTo>
                <a:lnTo>
                  <a:pt x="339090" y="976630"/>
                </a:lnTo>
                <a:lnTo>
                  <a:pt x="481965" y="887095"/>
                </a:lnTo>
                <a:lnTo>
                  <a:pt x="607060" y="827405"/>
                </a:lnTo>
                <a:lnTo>
                  <a:pt x="702310" y="684530"/>
                </a:lnTo>
                <a:lnTo>
                  <a:pt x="732155" y="559435"/>
                </a:lnTo>
                <a:lnTo>
                  <a:pt x="762000" y="518160"/>
                </a:lnTo>
                <a:lnTo>
                  <a:pt x="648335" y="559435"/>
                </a:lnTo>
                <a:lnTo>
                  <a:pt x="505460" y="654685"/>
                </a:lnTo>
                <a:lnTo>
                  <a:pt x="356870" y="702310"/>
                </a:lnTo>
                <a:lnTo>
                  <a:pt x="291465" y="696595"/>
                </a:lnTo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E5DCAB-503D-2A88-0FA1-982D1BDC19EC}"/>
              </a:ext>
            </a:extLst>
          </p:cNvPr>
          <p:cNvSpPr txBox="1"/>
          <p:nvPr/>
        </p:nvSpPr>
        <p:spPr>
          <a:xfrm>
            <a:off x="2512483" y="5416033"/>
            <a:ext cx="1797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kern="100">
                <a:effectLst/>
                <a:latin typeface="+mj-lt"/>
                <a:ea typeface="等线" panose="02010600030101010101" pitchFamily="2" charset="-122"/>
                <a:cs typeface="Times New Roman" panose="02020603050405020304" pitchFamily="18" charset="0"/>
              </a:rPr>
              <a:t>平面断层属性</a:t>
            </a:r>
            <a:endParaRPr lang="zh-CN" altLang="en-US" sz="2000" b="1">
              <a:latin typeface="+mj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442118-126D-1C04-EFBF-0EB798F7DD67}"/>
              </a:ext>
            </a:extLst>
          </p:cNvPr>
          <p:cNvSpPr txBox="1"/>
          <p:nvPr/>
        </p:nvSpPr>
        <p:spPr>
          <a:xfrm>
            <a:off x="7882467" y="5416033"/>
            <a:ext cx="1797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100">
                <a:effectLst/>
                <a:latin typeface="+mj-lt"/>
                <a:ea typeface="等线" panose="02010600030101010101" pitchFamily="2" charset="-122"/>
                <a:cs typeface="Times New Roman" panose="02020603050405020304" pitchFamily="18" charset="0"/>
              </a:rPr>
              <a:t>追踪的多边形</a:t>
            </a:r>
            <a:endParaRPr lang="zh-CN" altLang="en-US" sz="2000" b="1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IMG_6460"/>
          <p:cNvPicPr>
            <a:picLocks noChangeAspect="1"/>
          </p:cNvPicPr>
          <p:nvPr/>
        </p:nvPicPr>
        <p:blipFill>
          <a:blip r:embed="rId2">
            <a:lum bright="-6000"/>
          </a:blip>
          <a:srcRect t="21447" b="24414"/>
          <a:stretch>
            <a:fillRect/>
          </a:stretch>
        </p:blipFill>
        <p:spPr>
          <a:xfrm>
            <a:off x="0" y="3542096"/>
            <a:ext cx="12192000" cy="33159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522220"/>
            <a:ext cx="12192635" cy="2489835"/>
          </a:xfrm>
          <a:prstGeom prst="rect">
            <a:avLst/>
          </a:prstGeom>
          <a:gradFill>
            <a:gsLst>
              <a:gs pos="11000">
                <a:schemeClr val="bg1"/>
              </a:gs>
              <a:gs pos="50000">
                <a:schemeClr val="bg1">
                  <a:alpha val="7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23" tIns="45661" rIns="91323" bIns="4566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611188" y="1919817"/>
            <a:ext cx="11222567" cy="9787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135000"/>
              </a:lnSpc>
              <a:defRPr/>
            </a:pPr>
            <a:r>
              <a:rPr lang="zh-CN" altLang="en-US" sz="4265" b="1" ker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祝各位同学取得好成绩！</a:t>
            </a:r>
            <a:endParaRPr lang="zh-CN" altLang="en-US" sz="4265" b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</TotalTime>
  <Words>569</Words>
  <Application>Microsoft Office PowerPoint</Application>
  <PresentationFormat>宽屏</PresentationFormat>
  <Paragraphs>64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Microsoft YaHei Bold</vt:lpstr>
      <vt:lpstr>SabonLTStd-Bold</vt:lpstr>
      <vt:lpstr>等线</vt:lpstr>
      <vt:lpstr>汉仪雅酷黑 95W</vt:lpstr>
      <vt:lpstr>黑体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Template</dc:title>
  <dc:creator>iSlide</dc:creator>
  <cp:lastModifiedBy>user</cp:lastModifiedBy>
  <cp:revision>477</cp:revision>
  <dcterms:created xsi:type="dcterms:W3CDTF">2025-02-20T01:58:00Z</dcterms:created>
  <dcterms:modified xsi:type="dcterms:W3CDTF">2026-04-23T07:39:23Z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893A9A83D35ED2E47E83B66755F67809_43</vt:lpwstr>
  </property>
  <property fmtid="{D5CDD505-2E9C-101B-9397-08002B2CF9AE}" pid="3" name="KSOProductBuildVer">
    <vt:lpwstr>2052-12.1.0.21915</vt:lpwstr>
  </property>
</Properties>
</file>